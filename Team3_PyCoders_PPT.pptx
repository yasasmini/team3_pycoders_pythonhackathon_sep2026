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Play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7" roundtripDataSignature="AMtx7mgXsNtsDhq0pBcWzWnLxfiEL8qT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ay-regular.fntdata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font" Target="fonts/Play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hyperlink" Target="http://localhost:8502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2D4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5257800"/>
            <a:ext cx="12191695" cy="1600200"/>
          </a:xfrm>
          <a:prstGeom prst="rect">
            <a:avLst/>
          </a:prstGeom>
          <a:solidFill>
            <a:srgbClr val="257D8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580025" y="469150"/>
            <a:ext cx="11144400" cy="40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100"/>
              <a:buNone/>
            </a:pPr>
            <a:r>
              <a:rPr lang="en-US" sz="5000">
                <a:solidFill>
                  <a:srgbClr val="A5D6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6000">
                <a:solidFill>
                  <a:srgbClr val="A5D6FF"/>
                </a:solidFill>
                <a:latin typeface="Courier New"/>
                <a:ea typeface="Courier New"/>
                <a:cs typeface="Courier New"/>
                <a:sym typeface="Courier New"/>
              </a:rPr>
              <a:t>❤️</a:t>
            </a:r>
            <a:r>
              <a:rPr b="1" lang="en-US" sz="3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Heart Failure Risk &amp; Readmission Analysis</a:t>
            </a:r>
            <a:endParaRPr b="1" sz="3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74320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Presented By Team 3</a:t>
            </a:r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8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6961150" y="3343850"/>
            <a:ext cx="50139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alibri"/>
              <a:buChar char="-"/>
            </a:pPr>
            <a:r>
              <a:rPr lang="en-US" sz="2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Yasasmini V</a:t>
            </a:r>
            <a:endParaRPr sz="2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alibri"/>
              <a:buChar char="-"/>
            </a:pPr>
            <a:r>
              <a:rPr lang="en-US" sz="2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Pavani G</a:t>
            </a:r>
            <a:endParaRPr sz="2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alibri"/>
              <a:buChar char="-"/>
            </a:pPr>
            <a:r>
              <a:rPr lang="en-US" sz="2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Deepthi K</a:t>
            </a:r>
            <a:endParaRPr sz="2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alibri"/>
              <a:buChar char="-"/>
            </a:pPr>
            <a:r>
              <a:rPr lang="en-US" sz="2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Ramyakrishna Y</a:t>
            </a:r>
            <a:endParaRPr sz="2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/>
        </p:nvSpPr>
        <p:spPr>
          <a:xfrm>
            <a:off x="4262008" y="533277"/>
            <a:ext cx="4385560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192D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Overview</a:t>
            </a:r>
            <a:endParaRPr/>
          </a:p>
        </p:txBody>
      </p:sp>
      <p:sp>
        <p:nvSpPr>
          <p:cNvPr id="92" name="Google Shape;92;p2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257D8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93" name="Google Shape;93;p2"/>
          <p:cNvGrpSpPr/>
          <p:nvPr/>
        </p:nvGrpSpPr>
        <p:grpSpPr>
          <a:xfrm>
            <a:off x="731519" y="1531723"/>
            <a:ext cx="10835640" cy="4548782"/>
            <a:chOff x="0" y="555"/>
            <a:chExt cx="10835640" cy="4548782"/>
          </a:xfrm>
        </p:grpSpPr>
        <p:sp>
          <p:nvSpPr>
            <p:cNvPr id="94" name="Google Shape;94;p2"/>
            <p:cNvSpPr/>
            <p:nvPr/>
          </p:nvSpPr>
          <p:spPr>
            <a:xfrm>
              <a:off x="0" y="555"/>
              <a:ext cx="10835640" cy="1299652"/>
            </a:xfrm>
            <a:prstGeom prst="roundRect">
              <a:avLst>
                <a:gd fmla="val 10000" name="adj"/>
              </a:avLst>
            </a:prstGeom>
            <a:solidFill>
              <a:srgbClr val="CDD4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393144" y="292977"/>
              <a:ext cx="714808" cy="714808"/>
            </a:xfrm>
            <a:prstGeom prst="rect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1501098" y="555"/>
              <a:ext cx="9334542" cy="12996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2"/>
            <p:cNvSpPr txBox="1"/>
            <p:nvPr/>
          </p:nvSpPr>
          <p:spPr>
            <a:xfrm>
              <a:off x="1501098" y="555"/>
              <a:ext cx="9334542" cy="12996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525" lIns="137525" spcFirstLastPara="1" rIns="137525" wrap="square" tIns="137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This project analyzes clinical data from </a:t>
              </a:r>
              <a:r>
                <a:rPr b="1"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2,008 hospitalized heart-failure patients</a:t>
              </a: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treated at Zigong Fourth People’s Hospital, China, between </a:t>
              </a:r>
              <a:r>
                <a:rPr b="1"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December 2016 and June 2019</a:t>
              </a: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0" y="1625120"/>
              <a:ext cx="10835640" cy="1299652"/>
            </a:xfrm>
            <a:prstGeom prst="roundRect">
              <a:avLst>
                <a:gd fmla="val 10000" name="adj"/>
              </a:avLst>
            </a:prstGeom>
            <a:solidFill>
              <a:srgbClr val="CDD4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393144" y="1917542"/>
              <a:ext cx="714808" cy="714808"/>
            </a:xfrm>
            <a:prstGeom prst="rect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501098" y="1625120"/>
              <a:ext cx="9334542" cy="12996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2"/>
            <p:cNvSpPr txBox="1"/>
            <p:nvPr/>
          </p:nvSpPr>
          <p:spPr>
            <a:xfrm>
              <a:off x="1501098" y="1625120"/>
              <a:ext cx="9334542" cy="12996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525" lIns="137525" spcFirstLastPara="1" rIns="137525" wrap="square" tIns="137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The dataset contains </a:t>
              </a:r>
              <a:r>
                <a:rPr b="1"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168 clinical variables</a:t>
              </a: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covering demographics, vital signs, comorbidities, laboratory findings, cardiac characteristics, medications, and follow-up outcomes.</a:t>
              </a: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0" y="3249685"/>
              <a:ext cx="10835640" cy="1299652"/>
            </a:xfrm>
            <a:prstGeom prst="roundRect">
              <a:avLst>
                <a:gd fmla="val 10000" name="adj"/>
              </a:avLst>
            </a:prstGeom>
            <a:solidFill>
              <a:srgbClr val="CDD4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393144" y="3542107"/>
              <a:ext cx="714808" cy="714808"/>
            </a:xfrm>
            <a:prstGeom prst="rect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1501098" y="3249685"/>
              <a:ext cx="9334542" cy="12996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2"/>
            <p:cNvSpPr txBox="1"/>
            <p:nvPr/>
          </p:nvSpPr>
          <p:spPr>
            <a:xfrm>
              <a:off x="1501098" y="3249685"/>
              <a:ext cx="9334542" cy="12996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525" lIns="137525" spcFirstLastPara="1" rIns="137525" wrap="square" tIns="137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Patient outcomes were tracked at </a:t>
              </a:r>
              <a:r>
                <a:rPr b="1"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28 days, 3 months, and 6 months</a:t>
              </a: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focusing on </a:t>
              </a:r>
              <a:r>
                <a:rPr b="1"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readmission and mortality</a:t>
              </a: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/>
            </a:p>
          </p:txBody>
        </p:sp>
      </p:grpSp>
      <p:pic>
        <p:nvPicPr>
          <p:cNvPr id="106" name="Google Shape;106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9375" y="1837775"/>
            <a:ext cx="728400" cy="728400"/>
          </a:xfrm>
          <a:prstGeom prst="rect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7" name="Google Shape;107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9375" y="3440150"/>
            <a:ext cx="728400" cy="72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9375" y="5076325"/>
            <a:ext cx="728400" cy="728400"/>
          </a:xfrm>
          <a:prstGeom prst="rect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9" y="0"/>
            <a:ext cx="1218552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/>
          <p:nvPr/>
        </p:nvSpPr>
        <p:spPr>
          <a:xfrm>
            <a:off x="594360" y="411480"/>
            <a:ext cx="10972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92D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Descriptive Analysis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5"/>
          <p:cNvSpPr txBox="1"/>
          <p:nvPr/>
        </p:nvSpPr>
        <p:spPr>
          <a:xfrm>
            <a:off x="1369389" y="1165572"/>
            <a:ext cx="9294600" cy="25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lnSpc>
                <a:spcPct val="150000"/>
              </a:lnSpc>
              <a:spcBef>
                <a:spcPts val="1300"/>
              </a:spcBef>
              <a:spcAft>
                <a:spcPts val="0"/>
              </a:spcAft>
              <a:buSzPts val="1800"/>
              <a:buFont typeface="Times New Roman"/>
              <a:buChar char="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 performed descriptive analysis to understand the basic characteristics of the patient population.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Descriptive analysis summarizes what is present in the dataset, such as the number of patients, their age distribution, gender distribution, and other clinical characteristics.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It gives us an overall picture of the population before moving into risk-factor and predictive analysis.”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257D8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 txBox="1"/>
          <p:nvPr/>
        </p:nvSpPr>
        <p:spPr>
          <a:xfrm>
            <a:off x="640080" y="6583680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87580"/>
                </a:solidFill>
                <a:latin typeface="Calibri"/>
                <a:ea typeface="Calibri"/>
                <a:cs typeface="Calibri"/>
                <a:sym typeface="Calibri"/>
              </a:rPr>
              <a:t>Heart Failure Patient Outcome Analysis</a:t>
            </a:r>
            <a:endParaRPr/>
          </a:p>
        </p:txBody>
      </p:sp>
      <p:pic>
        <p:nvPicPr>
          <p:cNvPr id="122" name="Google Shape;12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6275" y="3182475"/>
            <a:ext cx="10728974" cy="358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 txBox="1"/>
          <p:nvPr/>
        </p:nvSpPr>
        <p:spPr>
          <a:xfrm>
            <a:off x="609610" y="187830"/>
            <a:ext cx="10972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92D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Prescriptive Analysis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6"/>
          <p:cNvSpPr txBox="1"/>
          <p:nvPr/>
        </p:nvSpPr>
        <p:spPr>
          <a:xfrm>
            <a:off x="682650" y="855050"/>
            <a:ext cx="11055300" cy="20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1300"/>
              </a:spcBef>
              <a:spcAft>
                <a:spcPts val="0"/>
              </a:spcAft>
              <a:buClr>
                <a:srgbClr val="232A30"/>
              </a:buClr>
              <a:buSzPts val="1800"/>
              <a:buFont typeface="Noto Sans Symbols"/>
              <a:buChar char="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performed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prescriptive analysis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identify which patient groups and care areas may need more attention based on the patterns observed in the data.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300"/>
              </a:spcBef>
              <a:spcAft>
                <a:spcPts val="0"/>
              </a:spcAft>
              <a:buClr>
                <a:srgbClr val="232A30"/>
              </a:buClr>
              <a:buSzPts val="1800"/>
              <a:buFont typeface="Noto Sans Symbols"/>
              <a:buChar char="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Prescriptive analysis uses factors such as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readmission rates by chronic kidney disease, comorbidities, NYHA class, Killip grade, length of stay, repeat visits, and ED returns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identify priorities for review.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300"/>
              </a:spcBef>
              <a:spcAft>
                <a:spcPts val="0"/>
              </a:spcAft>
              <a:buClr>
                <a:srgbClr val="232A30"/>
              </a:buClr>
              <a:buSzPts val="1800"/>
              <a:buFont typeface="Noto Sans Symbols"/>
              <a:buChar char="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helps us suggest areas for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closer monitoring, discharge planning, and post-discharge follow-up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based on observed associations, rather than proving that a specific intervention will reduce readmission.</a:t>
            </a:r>
            <a:endParaRPr sz="1600">
              <a:solidFill>
                <a:srgbClr val="232A30"/>
              </a:solidFill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257D8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834013" y="3429000"/>
            <a:ext cx="4863402" cy="296265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3E6EC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2650" y="3238975"/>
            <a:ext cx="5665499" cy="334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44500" y="3429000"/>
            <a:ext cx="4913626" cy="2863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/>
        </p:nvSpPr>
        <p:spPr>
          <a:xfrm>
            <a:off x="594360" y="183630"/>
            <a:ext cx="10972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92D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Predictive Analysis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8"/>
          <p:cNvSpPr txBox="1"/>
          <p:nvPr/>
        </p:nvSpPr>
        <p:spPr>
          <a:xfrm>
            <a:off x="710400" y="797875"/>
            <a:ext cx="10771200" cy="31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performed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predictive analysis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estimate the likelihood of future patient outcomes, such as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readmission or emergency department return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using available clinical characteristics.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Higher NYHA classes were associated with increased 6-month ED return risk, indicating greater heart failure severity.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Predictive modeling showed that severity, kidney function, and comorbidity burden contain useful risk signals for 6-month ED return.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However, the model’s discrimination was limited, suggesting that additional clinical variables are needed to improve prediction accuracy.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257D8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904000" y="3231575"/>
            <a:ext cx="10557300" cy="317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4650" y="3231575"/>
            <a:ext cx="5362575" cy="3196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8075" y="3231575"/>
            <a:ext cx="5008425" cy="3196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"/>
          <p:cNvSpPr txBox="1"/>
          <p:nvPr/>
        </p:nvSpPr>
        <p:spPr>
          <a:xfrm>
            <a:off x="594360" y="411480"/>
            <a:ext cx="10972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92D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Heart Failure Analysis Dashboard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257D8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9" title="Screenshot 2026-09-28 at 10.05.5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75" y="1140975"/>
            <a:ext cx="10715223" cy="4577800"/>
          </a:xfrm>
          <a:prstGeom prst="rect">
            <a:avLst/>
          </a:prstGeom>
          <a:solidFill>
            <a:srgbClr val="F4F7F9"/>
          </a:solidFill>
          <a:ln cap="flat" cmpd="sng" w="9525">
            <a:solidFill>
              <a:srgbClr val="BEC8D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</p:pic>
      <p:sp>
        <p:nvSpPr>
          <p:cNvPr id="150" name="Google Shape;150;p9"/>
          <p:cNvSpPr txBox="1"/>
          <p:nvPr/>
        </p:nvSpPr>
        <p:spPr>
          <a:xfrm>
            <a:off x="2939675" y="5718775"/>
            <a:ext cx="6618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Dashboard Link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"/>
          <p:cNvSpPr txBox="1"/>
          <p:nvPr/>
        </p:nvSpPr>
        <p:spPr>
          <a:xfrm>
            <a:off x="594360" y="411480"/>
            <a:ext cx="10972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92D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Insights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10"/>
          <p:cNvSpPr txBox="1"/>
          <p:nvPr/>
        </p:nvSpPr>
        <p:spPr>
          <a:xfrm>
            <a:off x="822960" y="1417320"/>
            <a:ext cx="103326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A30"/>
              </a:buClr>
              <a:buSzPts val="1800"/>
              <a:buFont typeface="Times New Roman"/>
              <a:buChar char="➢"/>
            </a:pPr>
            <a:r>
              <a:rPr lang="en-US" sz="1800">
                <a:solidFill>
                  <a:srgbClr val="232A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dataset represents an older hospitalized heart-failure population with substantial clinical complexity.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A30"/>
              </a:buClr>
              <a:buSzPts val="1800"/>
              <a:buFont typeface="Times New Roman"/>
              <a:buChar char="➢"/>
            </a:pPr>
            <a:r>
              <a:rPr lang="en-US" sz="1800">
                <a:solidFill>
                  <a:srgbClr val="232A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Readmission and ED-return risk are not explained by one variable; demographic, clinical and comorbidity factors should be considered together.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A30"/>
              </a:buClr>
              <a:buSzPts val="1800"/>
              <a:buFont typeface="Times New Roman"/>
              <a:buChar char="➢"/>
            </a:pPr>
            <a:r>
              <a:rPr lang="en-US" sz="1800">
                <a:solidFill>
                  <a:srgbClr val="232A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 patient subgroups show higher observed adverse-outcome rates and provide useful starting points for follow-up review.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A30"/>
              </a:buClr>
              <a:buSzPts val="1800"/>
              <a:buFont typeface="Times New Roman"/>
              <a:buChar char="➢"/>
            </a:pPr>
            <a:r>
              <a:rPr lang="en-US" sz="1800">
                <a:solidFill>
                  <a:srgbClr val="232A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Statistical testing helps separate visible differences from differences that may be due to sampling variation.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A30"/>
              </a:buClr>
              <a:buSzPts val="1800"/>
              <a:buFont typeface="Times New Roman"/>
              <a:buChar char="➢"/>
            </a:pPr>
            <a:r>
              <a:rPr lang="en-US" sz="1800">
                <a:solidFill>
                  <a:srgbClr val="232A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Predictive modeling can identify useful patterns, but model performance and external validation determine how confidently predictions can be used.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257D8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594360" y="411480"/>
            <a:ext cx="10972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92D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914400" y="1554475"/>
            <a:ext cx="10147200" cy="25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92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A30"/>
              </a:buClr>
              <a:buSzPts val="1900"/>
              <a:buFont typeface="Times New Roman"/>
              <a:buChar char="➢"/>
            </a:pPr>
            <a:r>
              <a:rPr lang="en-US" sz="1900">
                <a:solidFill>
                  <a:srgbClr val="232A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combined descriptive, prescriptive, statistical and predictive methods to study heart-failure outcomes.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A30"/>
              </a:buClr>
              <a:buSzPts val="1900"/>
              <a:buFont typeface="Times New Roman"/>
              <a:buChar char="➢"/>
            </a:pPr>
            <a:r>
              <a:rPr lang="en-US" sz="1900">
                <a:solidFill>
                  <a:srgbClr val="232A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analysis moved beyond reporting counts by comparing patient groups, testing relationships and exploring prediction.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A30"/>
              </a:buClr>
              <a:buSzPts val="1900"/>
              <a:buFont typeface="Times New Roman"/>
              <a:buChar char="➢"/>
            </a:pPr>
            <a:r>
              <a:rPr lang="en-US" sz="1900">
                <a:solidFill>
                  <a:srgbClr val="232A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strongest value of the project is the connection between clinical questions, statistical evidence, visual storytelling and practical follow-up considerations.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12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257D8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2"/>
          <p:cNvSpPr txBox="1"/>
          <p:nvPr/>
        </p:nvSpPr>
        <p:spPr>
          <a:xfrm>
            <a:off x="4220250" y="4825175"/>
            <a:ext cx="35355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50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i="1" sz="500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yasasmini vella</dc:creator>
</cp:coreProperties>
</file>